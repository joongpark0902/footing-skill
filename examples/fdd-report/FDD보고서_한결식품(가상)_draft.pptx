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</a:rPr>
              <a:t>재무실사 보고서 (Draft)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㈜한결식품(가상)</a:t>
            </a:r>
          </a:p>
          <a:p>
            <a:r>
              <a:rPr sz="1600" b="0">
                <a:latin typeface="맑은 고딕"/>
              </a:rPr>
              <a:t>실사 기준일: 2026년 6월 30일</a:t>
            </a:r>
          </a:p>
          <a:p>
            <a:r>
              <a:rPr sz="1600" b="0">
                <a:latin typeface="맑은 고딕"/>
              </a:rPr>
              <a:t>실사 대상기간: FY2023 ~ 2026년 상반기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맑은 고딕"/>
              </a:rPr>
              <a:t>본 자료의 회사·숫자는 풋팅 스킬 예시를 위해 지어낸 것입니다.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1.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FY2025 매출은 전년 대비 17.2% 성장한 24,560백만원이며, 조정 EBITDA 는 3,010백만원입니다.</a:t>
            </a:r>
          </a:p>
          <a:p>
            <a:r>
              <a:rPr sz="1300" b="0">
                <a:latin typeface="맑은 고딕"/>
              </a:rPr>
              <a:t>• 주요 거래처(A유통·B마트·C식자재) 매출 인식에 특이사항은 없습니다.</a:t>
            </a:r>
          </a:p>
          <a:p>
            <a:r>
              <a:rPr sz="1300" b="0">
                <a:latin typeface="맑은 고딕"/>
              </a:rPr>
              <a:t>• 실사 기준일 현재 리스부채 포함 순차입금은 2,210백만원입니다.</a:t>
            </a:r>
          </a:p>
          <a:p>
            <a:r>
              <a:rPr sz="1300" b="0">
                <a:latin typeface="맑은 고딕"/>
              </a:rPr>
              <a:t>• 순운전 자본은 매출 증가에 따라 FY2023 2,520백만원에서 FY2025 3,120백만원으로 증가했습니다.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2. 요약 손익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914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맑은 고딕"/>
              </a:rPr>
              <a:t>(단위: 백만원)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2026 1H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18,420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24,650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12,980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매출원가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12,890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14,730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16,920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8,950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매출 총이익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5,530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6,620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7,640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4,030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판매비와관리비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4,510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5,120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2,760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영업이익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1,270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감가상각비·무형자산상각비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410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1,680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• 매출은 B2B 식자재 유통 확대로 3개년 연평균 15.5% 성장</a:t>
            </a:r>
          </a:p>
          <a:p>
            <a:r>
              <a:rPr sz="1200" b="0">
                <a:latin typeface="맑은 고딕"/>
              </a:rPr>
              <a:t>• 매출총이익률 FY2023 30.0% → FY2025 31.1%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3. 이익의 질 (조정 EBITDA)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914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맑은 고딕"/>
              </a:rPr>
              <a:t>(단위: 백만원)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00200"/>
                <a:gridCol w="1600200"/>
                <a:gridCol w="1600200"/>
                <a:gridCol w="160020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2026 1H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보고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1,680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(+) 일회성 소송합의금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(−) 특수관계자 임차료 시가 초과분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-30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(−) 정부보조금 수익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(−) 재고평가손실 환입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조정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1,650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• 일회성 소송합의금(FY2024)과 비경상 수익(정부보조금·재고평가손실 환입)을 제거</a:t>
            </a:r>
          </a:p>
          <a:p>
            <a:r>
              <a:rPr sz="1200" b="0">
                <a:latin typeface="맑은 고딕"/>
              </a:rPr>
              <a:t>• 대표이사 소유 창고 임차료는 시가(월 10백만원) 초과분을 차감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4. 순운전자본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FY2025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2026 1H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매출채권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3,180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재고자산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1,900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매입채무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-1,470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-1,520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기타유동부채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-190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순운전자본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3,370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• 매출채권 회전일수 FY2023 46일 → FY2025 45일로 안정적</a:t>
            </a:r>
          </a:p>
          <a:p>
            <a:r>
              <a:rPr sz="1200" b="0">
                <a:latin typeface="맑은 고딕"/>
              </a:rPr>
              <a:t>• 재고자산은 원재료 선매입으로 증가 추세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5. 순차입금 (2025년 12월 31일 현재)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914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맑은 고딕"/>
              </a:rPr>
              <a:t>(단위: 백만원)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54864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금액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단기차입금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○○은행 운전자금, 만기 2026-06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장기차입금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△△은행 시설자금, 만기 2028-12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(−) 현금및현금성자산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-1,690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은행조회서 대사 완료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순차입금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리스부채 포함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• 단기차입금은 2026년 6월 만기 도래 — 차환 조건 확인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맑은 고딕"/>
              </a:rPr>
              <a:t>6. 매출처별 매출 (FY2025)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914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맑은 고딕"/>
              </a:rPr>
              <a:t>(단위: 백만원)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거래처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매출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latin typeface="맑은 고딕"/>
                        </a:rPr>
                        <a:t>비중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A유통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9,820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40.0%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B마트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6,140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25.0%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C식자재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3,680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15.0%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4,920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20.0%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latin typeface="맑은 고딕"/>
                        </a:rP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24,560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latin typeface="맑은 고딕"/>
                        </a:rP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• 상위 3개 거래처 비중 80.0%</a:t>
            </a:r>
          </a:p>
          <a:p>
            <a:r>
              <a:rPr sz="1200" b="0">
                <a:latin typeface="맑은 고딕"/>
              </a:rPr>
              <a:t>• 주요 거래처 매출 인식에 특이사항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